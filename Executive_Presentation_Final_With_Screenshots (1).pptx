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7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Calibri"/>
              <a:buNone/>
              <a:defRPr>
                <a:solidFill>
                  <a:srgbClr val="888888"/>
                </a:solidFill>
              </a:defRPr>
            </a:lvl1pPr>
            <a:lvl2pPr indent="-228600" lvl="1" marL="91440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Calibri"/>
              <a:buNone/>
              <a:defRPr>
                <a:solidFill>
                  <a:srgbClr val="888888"/>
                </a:solidFill>
              </a:defRPr>
            </a:lvl2pPr>
            <a:lvl3pPr indent="-228600" lvl="2" marL="137160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Calibri"/>
              <a:buNone/>
              <a:defRPr>
                <a:solidFill>
                  <a:srgbClr val="888888"/>
                </a:solidFill>
              </a:defRPr>
            </a:lvl3pPr>
            <a:lvl4pPr indent="-228600" lvl="3" marL="182880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Calibri"/>
              <a:buNone/>
              <a:defRPr>
                <a:solidFill>
                  <a:srgbClr val="888888"/>
                </a:solidFill>
              </a:defRPr>
            </a:lvl4pPr>
            <a:lvl5pPr indent="-228600" lvl="4" marL="228600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Calibri"/>
              <a:buNone/>
              <a:defRPr>
                <a:solidFill>
                  <a:srgbClr val="888888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Calibri"/>
              <a:buNone/>
              <a:defRPr b="1" sz="4000" cap="none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722312" y="2906713"/>
            <a:ext cx="7772401" cy="15001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Calibri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Calibri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Calibri"/>
              <a:buNone/>
              <a:defRPr sz="20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Calibri"/>
              <a:buNone/>
              <a:defRPr sz="20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Calibri"/>
              <a:buNone/>
              <a:defRPr sz="2000">
                <a:solidFill>
                  <a:srgbClr val="888888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2" type="sldNum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6" name="Google Shape;26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  <a:defRPr sz="2800"/>
            </a:lvl1pPr>
            <a:lvl2pPr indent="-4064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–"/>
              <a:defRPr sz="2800"/>
            </a:lvl2pPr>
            <a:lvl3pPr indent="-4064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  <a:defRPr sz="2800"/>
            </a:lvl3pPr>
            <a:lvl4pPr indent="-4064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–"/>
              <a:defRPr sz="2800"/>
            </a:lvl4pPr>
            <a:lvl5pPr indent="-4064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Char char="»"/>
              <a:defRPr sz="2800"/>
            </a:lvl5pPr>
            <a:lvl6pPr indent="-342900" lvl="5" marL="2743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>
  <p:cSld name="Comparison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b="1" sz="24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b="1" sz="24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b="1" sz="24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b="1" sz="2400"/>
            </a:lvl5pPr>
            <a:lvl6pPr indent="-342900" lvl="5" marL="2743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7"/>
          <p:cNvSpPr txBox="1"/>
          <p:nvPr>
            <p:ph idx="2" type="body"/>
          </p:nvPr>
        </p:nvSpPr>
        <p:spPr>
          <a:xfrm>
            <a:off x="4645025" y="1535112"/>
            <a:ext cx="4041775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>
  <p:cSld name="Content with Ca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 txBox="1"/>
          <p:nvPr>
            <p:ph type="title"/>
          </p:nvPr>
        </p:nvSpPr>
        <p:spPr>
          <a:xfrm>
            <a:off x="457200" y="273050"/>
            <a:ext cx="3008314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  <a:defRPr b="1"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37" name="Google Shape;37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9"/>
          <p:cNvSpPr txBox="1"/>
          <p:nvPr>
            <p:ph idx="2" type="body"/>
          </p:nvPr>
        </p:nvSpPr>
        <p:spPr>
          <a:xfrm>
            <a:off x="457199" y="1435100"/>
            <a:ext cx="3008315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" name="Google Shape;39;p9"/>
          <p:cNvSpPr txBox="1"/>
          <p:nvPr>
            <p:ph idx="12" type="sldNum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>
  <p:cSld name="Picture with Caption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0"/>
          <p:cNvSpPr txBox="1"/>
          <p:nvPr>
            <p:ph type="title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  <a:defRPr b="1"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42" name="Google Shape;42;p10"/>
          <p:cNvSpPr/>
          <p:nvPr>
            <p:ph idx="2" type="pic"/>
          </p:nvPr>
        </p:nvSpPr>
        <p:spPr>
          <a:xfrm>
            <a:off x="1792288" y="612775"/>
            <a:ext cx="5486401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43" name="Google Shape;43;p10"/>
          <p:cNvSpPr txBox="1"/>
          <p:nvPr>
            <p:ph idx="1" type="body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sz="1400"/>
            </a:lvl5pPr>
            <a:lvl6pPr indent="-342900" lvl="5" marL="2743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10"/>
          <p:cNvSpPr txBox="1"/>
          <p:nvPr>
            <p:ph idx="12" type="sldNum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0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31800" lvl="1" marL="9144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–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431800" lvl="2" marL="13716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431800" lvl="3" marL="18288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–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431800" lvl="4" marL="22860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»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431800" lvl="5" marL="27432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431800" lvl="6" marL="32004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431800" lvl="7" marL="36576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431800" lvl="8" marL="41148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 txBox="1"/>
          <p:nvPr>
            <p:ph idx="4294967295"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</a:pPr>
            <a:r>
              <a:rPr b="0" i="0" lang="en-US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Cybersecurity Assessment Project</a:t>
            </a:r>
            <a:endParaRPr/>
          </a:p>
        </p:txBody>
      </p:sp>
      <p:sp>
        <p:nvSpPr>
          <p:cNvPr id="50" name="Google Shape;50;p11"/>
          <p:cNvSpPr txBox="1"/>
          <p:nvPr>
            <p:ph idx="4294967295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Debian Server Security Evaluation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Internal Host-Only Lab Environment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2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</a:pPr>
            <a:r>
              <a:rPr b="0" i="0" lang="en-US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Project Overview</a:t>
            </a:r>
            <a:endParaRPr/>
          </a:p>
        </p:txBody>
      </p:sp>
      <p:sp>
        <p:nvSpPr>
          <p:cNvPr id="56" name="Google Shape;56;p1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Objective: Identify and remediate system vulnerabilities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–"/>
            </a:pPr>
            <a:r>
              <a:rPr lang="en-US" sz="2800"/>
              <a:t>Environment: Host-Only Network (192.168.56.0/24)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–"/>
            </a:pPr>
            <a:r>
              <a:rPr lang="en-US" sz="2800"/>
              <a:t>Attacker Machine: Kali Linux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–"/>
            </a:pPr>
            <a:r>
              <a:rPr lang="en-US" sz="2800"/>
              <a:t>Target Machine: Debian Server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3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</a:pPr>
            <a:r>
              <a:t/>
            </a:r>
            <a:endParaRPr b="0" i="0" sz="4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13"/>
          <p:cNvSpPr txBox="1"/>
          <p:nvPr/>
        </p:nvSpPr>
        <p:spPr>
          <a:xfrm>
            <a:off x="502919" y="274320"/>
            <a:ext cx="2375073" cy="3330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Vulnerabilities Identified</a:t>
            </a:r>
            <a:endParaRPr/>
          </a:p>
        </p:txBody>
      </p:sp>
      <p:sp>
        <p:nvSpPr>
          <p:cNvPr id="63" name="Google Shape;63;p13"/>
          <p:cNvSpPr txBox="1"/>
          <p:nvPr/>
        </p:nvSpPr>
        <p:spPr>
          <a:xfrm>
            <a:off x="502919" y="914400"/>
            <a:ext cx="4421199" cy="12093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Port 21 (FTP) – Anonymous login enabled</a:t>
            </a:r>
            <a:endParaRPr/>
          </a:p>
          <a:p>
            <a:pPr indent="45720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Port 80 (HTTP) – Apache exposed</a:t>
            </a:r>
            <a:endParaRPr/>
          </a:p>
          <a:p>
            <a:pPr indent="45720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Port 22 (SSH) – Open remote access</a:t>
            </a:r>
            <a:endParaRPr/>
          </a:p>
          <a:p>
            <a:pPr indent="45720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Misconfiguration increased attack surface</a:t>
            </a:r>
            <a:endParaRPr/>
          </a:p>
        </p:txBody>
      </p:sp>
      <p:pic>
        <p:nvPicPr>
          <p:cNvPr descr="Picture 4" id="64" name="Google Shape;64;p13"/>
          <p:cNvPicPr preferRelativeResize="0"/>
          <p:nvPr/>
        </p:nvPicPr>
        <p:blipFill rotWithShape="1">
          <a:blip r:embed="rId3">
            <a:alphaModFix/>
          </a:blip>
          <a:srcRect b="35534" l="0" r="0" t="0"/>
          <a:stretch/>
        </p:blipFill>
        <p:spPr>
          <a:xfrm>
            <a:off x="4148700" y="2769600"/>
            <a:ext cx="4421200" cy="33055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</a:pPr>
            <a:r>
              <a:t/>
            </a:r>
            <a:endParaRPr b="0" i="0" sz="4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14"/>
          <p:cNvSpPr txBox="1"/>
          <p:nvPr/>
        </p:nvSpPr>
        <p:spPr>
          <a:xfrm>
            <a:off x="502919" y="274320"/>
            <a:ext cx="2147031" cy="3330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Exploitation Summary</a:t>
            </a:r>
            <a:endParaRPr/>
          </a:p>
        </p:txBody>
      </p:sp>
      <p:sp>
        <p:nvSpPr>
          <p:cNvPr id="71" name="Google Shape;71;p14"/>
          <p:cNvSpPr txBox="1"/>
          <p:nvPr/>
        </p:nvSpPr>
        <p:spPr>
          <a:xfrm>
            <a:off x="502919" y="914400"/>
            <a:ext cx="5078759" cy="12093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Performed Nmap scan to identify open services</a:t>
            </a:r>
            <a:endParaRPr/>
          </a:p>
          <a:p>
            <a:pPr indent="45720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Successfully authenticated using anonymous FTP</a:t>
            </a:r>
            <a:endParaRPr/>
          </a:p>
          <a:p>
            <a:pPr indent="45720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Enumerated directory contents</a:t>
            </a:r>
            <a:endParaRPr/>
          </a:p>
          <a:p>
            <a:pPr indent="45720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Confirmed exposure risk</a:t>
            </a:r>
            <a:endParaRPr/>
          </a:p>
        </p:txBody>
      </p:sp>
      <p:pic>
        <p:nvPicPr>
          <p:cNvPr descr="Picture 4" id="72" name="Google Shape;72;p14"/>
          <p:cNvPicPr preferRelativeResize="0"/>
          <p:nvPr/>
        </p:nvPicPr>
        <p:blipFill rotWithShape="1">
          <a:blip r:embed="rId3">
            <a:alphaModFix/>
          </a:blip>
          <a:srcRect b="34632" l="0" r="0" t="0"/>
          <a:stretch/>
        </p:blipFill>
        <p:spPr>
          <a:xfrm>
            <a:off x="4060525" y="2123800"/>
            <a:ext cx="4498099" cy="34607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5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</a:pPr>
            <a:r>
              <a:t/>
            </a:r>
            <a:endParaRPr b="0" i="0" sz="4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15"/>
          <p:cNvSpPr txBox="1"/>
          <p:nvPr/>
        </p:nvSpPr>
        <p:spPr>
          <a:xfrm>
            <a:off x="502919" y="274320"/>
            <a:ext cx="2608807" cy="3330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Remediation Actions Taken</a:t>
            </a:r>
            <a:endParaRPr/>
          </a:p>
        </p:txBody>
      </p:sp>
      <p:sp>
        <p:nvSpPr>
          <p:cNvPr id="79" name="Google Shape;79;p15"/>
          <p:cNvSpPr txBox="1"/>
          <p:nvPr/>
        </p:nvSpPr>
        <p:spPr>
          <a:xfrm>
            <a:off x="502919" y="914400"/>
            <a:ext cx="4851387" cy="12093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Disabled anonymous FTP (anonymous_enable=NO)</a:t>
            </a:r>
            <a:endParaRPr/>
          </a:p>
          <a:p>
            <a:pPr indent="45720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Restarted vsftpd service</a:t>
            </a:r>
            <a:endParaRPr/>
          </a:p>
          <a:p>
            <a:pPr indent="45720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Installed and enabled UFW firewall</a:t>
            </a:r>
            <a:endParaRPr/>
          </a:p>
          <a:p>
            <a:pPr indent="45720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Blocked port 80 using firewall rules</a:t>
            </a:r>
            <a:endParaRPr/>
          </a:p>
        </p:txBody>
      </p:sp>
      <p:pic>
        <p:nvPicPr>
          <p:cNvPr descr="Picture 4" id="80" name="Google Shape;80;p15"/>
          <p:cNvPicPr preferRelativeResize="0"/>
          <p:nvPr/>
        </p:nvPicPr>
        <p:blipFill rotWithShape="1">
          <a:blip r:embed="rId3">
            <a:alphaModFix/>
          </a:blip>
          <a:srcRect b="0" l="0" r="19465" t="0"/>
          <a:stretch/>
        </p:blipFill>
        <p:spPr>
          <a:xfrm rot="5400000">
            <a:off x="4774500" y="1559499"/>
            <a:ext cx="2945698" cy="5020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</a:pPr>
            <a:r>
              <a:t/>
            </a:r>
            <a:endParaRPr b="0" i="0" sz="4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6"/>
          <p:cNvSpPr txBox="1"/>
          <p:nvPr/>
        </p:nvSpPr>
        <p:spPr>
          <a:xfrm>
            <a:off x="502919" y="274320"/>
            <a:ext cx="2384337" cy="3330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Verification &amp; Hardening</a:t>
            </a:r>
            <a:endParaRPr/>
          </a:p>
        </p:txBody>
      </p:sp>
      <p:sp>
        <p:nvSpPr>
          <p:cNvPr id="87" name="Google Shape;87;p16"/>
          <p:cNvSpPr txBox="1"/>
          <p:nvPr/>
        </p:nvSpPr>
        <p:spPr>
          <a:xfrm>
            <a:off x="502919" y="914400"/>
            <a:ext cx="3824807" cy="12093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Post-remediation Nmap scan performed</a:t>
            </a:r>
            <a:endParaRPr/>
          </a:p>
          <a:p>
            <a:pPr indent="45720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Port 80 confirmed filtered/blocked</a:t>
            </a:r>
            <a:endParaRPr/>
          </a:p>
          <a:p>
            <a:pPr indent="45720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Anonymous FTP access denied</a:t>
            </a:r>
            <a:endParaRPr/>
          </a:p>
          <a:p>
            <a:pPr indent="45720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Reduced overall attack surface</a:t>
            </a:r>
            <a:endParaRPr/>
          </a:p>
        </p:txBody>
      </p:sp>
      <p:pic>
        <p:nvPicPr>
          <p:cNvPr descr="Picture 4" id="88" name="Google Shape;88;p16"/>
          <p:cNvPicPr preferRelativeResize="0"/>
          <p:nvPr/>
        </p:nvPicPr>
        <p:blipFill rotWithShape="1">
          <a:blip r:embed="rId3">
            <a:alphaModFix/>
          </a:blip>
          <a:srcRect b="0" l="14042" r="28595" t="0"/>
          <a:stretch/>
        </p:blipFill>
        <p:spPr>
          <a:xfrm rot="5400000">
            <a:off x="4900810" y="2061563"/>
            <a:ext cx="2912303" cy="4467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7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84"/>
              <a:buFont typeface="Calibri"/>
              <a:buNone/>
            </a:pPr>
            <a:r>
              <a:rPr lang="en-US" sz="3784"/>
              <a:t>Incident Response &amp; ISMS Implementation</a:t>
            </a:r>
            <a:endParaRPr/>
          </a:p>
        </p:txBody>
      </p:sp>
      <p:sp>
        <p:nvSpPr>
          <p:cNvPr id="94" name="Google Shape;94;p1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Aligned with NIST SP 800-61 framework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–"/>
            </a:pPr>
            <a:r>
              <a:rPr lang="en-US" sz="2800"/>
              <a:t>Developed formal Incident Response Plan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–"/>
            </a:pPr>
            <a:r>
              <a:rPr lang="en-US" sz="2800"/>
              <a:t>Implemented ISO 27001-based ISMS structure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–"/>
            </a:pPr>
            <a:r>
              <a:rPr lang="en-US" sz="2800"/>
              <a:t>Established continuous improvement process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12"/>
              <a:buFont typeface="Calibri"/>
              <a:buNone/>
            </a:pPr>
            <a:r>
              <a:rPr lang="en-US" sz="4312"/>
              <a:t>Recovery &amp; Business Continuity Plan</a:t>
            </a:r>
            <a:endParaRPr/>
          </a:p>
        </p:txBody>
      </p:sp>
      <p:sp>
        <p:nvSpPr>
          <p:cNvPr id="100" name="Google Shape;100;p1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Defined Recovery Time &amp; Recovery Point Objectives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–"/>
            </a:pPr>
            <a:r>
              <a:rPr lang="en-US" sz="2800"/>
              <a:t>Implemented backup strategy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–"/>
            </a:pPr>
            <a:r>
              <a:rPr lang="en-US" sz="2800"/>
              <a:t>Documented restoration procedures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–"/>
            </a:pPr>
            <a:r>
              <a:rPr lang="en-US" sz="2800"/>
              <a:t>Established stakeholder communication plan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9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</a:pPr>
            <a:r>
              <a:t/>
            </a:r>
            <a:endParaRPr b="0" i="0" sz="4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9"/>
          <p:cNvSpPr txBox="1"/>
          <p:nvPr/>
        </p:nvSpPr>
        <p:spPr>
          <a:xfrm>
            <a:off x="502919" y="274320"/>
            <a:ext cx="2102829" cy="3330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Final Security Posture</a:t>
            </a:r>
            <a:endParaRPr/>
          </a:p>
        </p:txBody>
      </p:sp>
      <p:sp>
        <p:nvSpPr>
          <p:cNvPr id="107" name="Google Shape;107;p19"/>
          <p:cNvSpPr txBox="1"/>
          <p:nvPr/>
        </p:nvSpPr>
        <p:spPr>
          <a:xfrm>
            <a:off x="502919" y="914400"/>
            <a:ext cx="3832174" cy="12093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Anonymous FTP eliminated</a:t>
            </a:r>
            <a:endParaRPr/>
          </a:p>
          <a:p>
            <a:pPr indent="45720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Port 80 secured via firewall</a:t>
            </a:r>
            <a:endParaRPr/>
          </a:p>
          <a:p>
            <a:pPr indent="45720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Services hardened and verified</a:t>
            </a:r>
            <a:endParaRPr/>
          </a:p>
          <a:p>
            <a:pPr indent="45720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Ongoing monitoring recommended</a:t>
            </a:r>
            <a:endParaRPr/>
          </a:p>
        </p:txBody>
      </p:sp>
      <p:pic>
        <p:nvPicPr>
          <p:cNvPr descr="Picture 4" id="108" name="Google Shape;108;p19"/>
          <p:cNvPicPr preferRelativeResize="0"/>
          <p:nvPr/>
        </p:nvPicPr>
        <p:blipFill rotWithShape="1">
          <a:blip r:embed="rId3">
            <a:alphaModFix/>
          </a:blip>
          <a:srcRect b="0" l="0" r="46575" t="0"/>
          <a:stretch/>
        </p:blipFill>
        <p:spPr>
          <a:xfrm rot="5400000">
            <a:off x="4942564" y="1508337"/>
            <a:ext cx="3246324" cy="4613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